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Yield by Season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Yield (t/ha)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Kharif</c:v>
                </c:pt>
                <c:pt idx="1">
                  <c:v>Rabi</c:v>
                </c:pt>
                <c:pt idx="2">
                  <c:v>Zaid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5.64</c:v>
                </c:pt>
                <c:pt idx="1">
                  <c:v>5.08</c:v>
                </c:pt>
                <c:pt idx="2">
                  <c:v>4.67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Average Profit (₹ thousands)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Kharif</c:v>
                </c:pt>
                <c:pt idx="1">
                  <c:v>Rabi</c:v>
                </c:pt>
                <c:pt idx="2">
                  <c:v>Zaid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178.9</c:v>
                </c:pt>
                <c:pt idx="1">
                  <c:v>87.7</c:v>
                </c:pt>
                <c:pt idx="2">
                  <c:v>-24.8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Average Rainfall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(mm)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Kharif</c:v>
                </c:pt>
                <c:pt idx="1">
                  <c:v>Rabi</c:v>
                </c:pt>
                <c:pt idx="2">
                  <c:v>Zaid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852.0</c:v>
                </c:pt>
                <c:pt idx="1">
                  <c:v>436.0</c:v>
                </c:pt>
                <c:pt idx="2">
                  <c:v>299.0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Water Efficiency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Water Efficiency (t / 1000 m³)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Kharif</c:v>
                </c:pt>
                <c:pt idx="1">
                  <c:v>Rabi</c:v>
                </c:pt>
                <c:pt idx="2">
                  <c:v>Zaid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5.89</c:v>
                </c:pt>
                <c:pt idx="1">
                  <c:v>5.19</c:v>
                </c:pt>
                <c:pt idx="2">
                  <c:v>4.41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Average Yield by Crop &amp; Season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Kharif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Chilli</c:v>
                </c:pt>
                <c:pt idx="1">
                  <c:v>Cotton</c:v>
                </c:pt>
                <c:pt idx="2">
                  <c:v>Groundnut</c:v>
                </c:pt>
                <c:pt idx="3">
                  <c:v>Maize</c:v>
                </c:pt>
                <c:pt idx="4">
                  <c:v>Pulses</c:v>
                </c:pt>
                <c:pt idx="5">
                  <c:v>Rice</c:v>
                </c:pt>
                <c:pt idx="6">
                  <c:v>Sugarcane</c:v>
                </c:pt>
                <c:pt idx="7">
                  <c:v>Wheat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1.73</c:v>
                </c:pt>
                <c:pt idx="1">
                  <c:v>1.37</c:v>
                </c:pt>
                <c:pt idx="2">
                  <c:v>1.48</c:v>
                </c:pt>
                <c:pt idx="3">
                  <c:v>2.97</c:v>
                </c:pt>
                <c:pt idx="4">
                  <c:v>1.04</c:v>
                </c:pt>
                <c:pt idx="5">
                  <c:v>2.71</c:v>
                </c:pt>
                <c:pt idx="6">
                  <c:v>53.46</c:v>
                </c:pt>
                <c:pt idx="7">
                  <c:v>2.26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Rabi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Chilli</c:v>
                </c:pt>
                <c:pt idx="1">
                  <c:v>Cotton</c:v>
                </c:pt>
                <c:pt idx="2">
                  <c:v>Groundnut</c:v>
                </c:pt>
                <c:pt idx="3">
                  <c:v>Maize</c:v>
                </c:pt>
                <c:pt idx="4">
                  <c:v>Pulses</c:v>
                </c:pt>
                <c:pt idx="5">
                  <c:v>Rice</c:v>
                </c:pt>
                <c:pt idx="6">
                  <c:v>Sugarcane</c:v>
                </c:pt>
                <c:pt idx="7">
                  <c:v>Wheat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1.46</c:v>
                </c:pt>
                <c:pt idx="1">
                  <c:v>1.19</c:v>
                </c:pt>
                <c:pt idx="2">
                  <c:v>1.22</c:v>
                </c:pt>
                <c:pt idx="3">
                  <c:v>2.61</c:v>
                </c:pt>
                <c:pt idx="4">
                  <c:v>0.87</c:v>
                </c:pt>
                <c:pt idx="5">
                  <c:v>2.33</c:v>
                </c:pt>
                <c:pt idx="6">
                  <c:v>43.94</c:v>
                </c:pt>
                <c:pt idx="7">
                  <c:v>2.06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Zaid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Chilli</c:v>
                </c:pt>
                <c:pt idx="1">
                  <c:v>Cotton</c:v>
                </c:pt>
                <c:pt idx="2">
                  <c:v>Groundnut</c:v>
                </c:pt>
                <c:pt idx="3">
                  <c:v>Maize</c:v>
                </c:pt>
                <c:pt idx="4">
                  <c:v>Pulses</c:v>
                </c:pt>
                <c:pt idx="5">
                  <c:v>Rice</c:v>
                </c:pt>
                <c:pt idx="6">
                  <c:v>Sugarcane</c:v>
                </c:pt>
                <c:pt idx="7">
                  <c:v>Wheat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1.18</c:v>
                </c:pt>
                <c:pt idx="1">
                  <c:v>0.95</c:v>
                </c:pt>
                <c:pt idx="2">
                  <c:v>1.04</c:v>
                </c:pt>
                <c:pt idx="3">
                  <c:v>2.3</c:v>
                </c:pt>
                <c:pt idx="4">
                  <c:v>0.65</c:v>
                </c:pt>
                <c:pt idx="5">
                  <c:v>1.9</c:v>
                </c:pt>
                <c:pt idx="6">
                  <c:v>38.42</c:v>
                </c:pt>
                <c:pt idx="7">
                  <c:v>1.75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Yield by Irrigation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Yield (t/ha)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Drip</c:v>
                </c:pt>
                <c:pt idx="1">
                  <c:v>Sprinkler</c:v>
                </c:pt>
                <c:pt idx="2">
                  <c:v>Flood</c:v>
                </c:pt>
                <c:pt idx="3">
                  <c:v>Rainfed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6.62</c:v>
                </c:pt>
                <c:pt idx="1">
                  <c:v>5.19</c:v>
                </c:pt>
                <c:pt idx="2">
                  <c:v>4.9</c:v>
                </c:pt>
                <c:pt idx="3">
                  <c:v>4.61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SEASONAL AGRICULTURE</a:t>
            </a:r>
            <a:br/>
            <a:r>
              <a:t>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9718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89BE5C"/>
                </a:solidFill>
              </a:defRPr>
            </a:pPr>
            <a:r>
              <a:t>Major Project • VOIS AICTE Batch 1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406908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DC2"/>
                </a:solidFill>
              </a:defRPr>
            </a:pPr>
            <a:r>
              <a:t>Submitted by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A PRAJAN KUMAR</a:t>
            </a:r>
          </a:p>
          <a:p>
            <a:pPr>
              <a:defRPr sz="1100">
                <a:solidFill>
                  <a:srgbClr val="D2DCD7"/>
                </a:solidFill>
              </a:defRPr>
            </a:pPr>
            <a:r>
              <a:t>AICTE Student ID: STU6955398a5d9201767192970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2B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C65"/>
                </a:solidFill>
                <a:latin typeface="Aptos"/>
              </a:defRPr>
            </a:pPr>
            <a:r>
              <a:t>A focused data analytics study of seasonal agricultural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2D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C65"/>
                </a:solidFill>
              </a:defRPr>
            </a:pPr>
            <a:r>
              <a:t>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02B"/>
                </a:solidFill>
              </a:defRPr>
            </a:pPr>
            <a:r>
              <a:t>4,000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farm-level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73152" cy="1143000"/>
          </a:xfrm>
          <a:prstGeom prst="rect">
            <a:avLst/>
          </a:prstGeom>
          <a:solidFill>
            <a:srgbClr val="89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563624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C65"/>
                </a:solidFill>
              </a:defRPr>
            </a:pPr>
            <a:r>
              <a:t>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85623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02B"/>
                </a:solidFill>
              </a:defRPr>
            </a:pPr>
            <a: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17627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environment • resources • economics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73152" cy="1143000"/>
          </a:xfrm>
          <a:prstGeom prst="rect">
            <a:avLst/>
          </a:prstGeom>
          <a:solidFill>
            <a:srgbClr val="DD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7" y="1563624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C65"/>
                </a:solidFill>
              </a:defRPr>
            </a:pPr>
            <a:r>
              <a:t>SEASONS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185623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02B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7" y="217627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Kharif • Rabi • Zaid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1417320"/>
            <a:ext cx="73152" cy="1143000"/>
          </a:xfrm>
          <a:prstGeom prst="rect">
            <a:avLst/>
          </a:prstGeom>
          <a:solidFill>
            <a:srgbClr val="2D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1563624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C65"/>
                </a:solidFill>
              </a:defRPr>
            </a:pPr>
            <a:r>
              <a:t>CROPS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185623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02B"/>
                </a:solidFill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217627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including Rice, Wheat, Maize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97180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A27"/>
                </a:solidFill>
                <a:latin typeface="Aptos"/>
              </a:defRPr>
            </a:pPr>
            <a:r>
              <a:t>• Problem: raw agricultural data does not directly explain how performance changes across seasons.</a:t>
            </a:r>
          </a:p>
          <a:p>
            <a:pPr>
              <a:spcAft>
                <a:spcPts val="900"/>
              </a:spcAft>
              <a:defRPr sz="1600">
                <a:solidFill>
                  <a:srgbClr val="232A27"/>
                </a:solidFill>
                <a:latin typeface="Aptos"/>
              </a:defRPr>
            </a:pPr>
            <a:r>
              <a:t>• Objective: identify meaningful patterns, trends, relationships and differences in agricultural performance.</a:t>
            </a:r>
          </a:p>
          <a:p>
            <a:pPr>
              <a:spcAft>
                <a:spcPts val="900"/>
              </a:spcAft>
              <a:defRPr sz="1600">
                <a:solidFill>
                  <a:srgbClr val="232A27"/>
                </a:solidFill>
                <a:latin typeface="Aptos"/>
              </a:defRPr>
            </a:pPr>
            <a:r>
              <a:t>• Focus areas: yield, production, rainfall, resource usage, water efficiency, risk and economic outcomes.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9282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VOIS AICTE Batch 1 • Major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7453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C6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2B"/>
                </a:solidFill>
                <a:latin typeface="Aptos Display"/>
              </a:defRPr>
            </a:pPr>
            <a:r>
              <a:t>Dataset &amp; Analytical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C65"/>
                </a:solidFill>
                <a:latin typeface="Aptos"/>
              </a:defRPr>
            </a:pPr>
            <a:r>
              <a:t>Data quality checks followed by seasonal comparison and visualization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325880"/>
            <a:ext cx="438912" cy="438912"/>
          </a:xfrm>
          <a:prstGeom prst="ellipse">
            <a:avLst/>
          </a:prstGeom>
          <a:solidFill>
            <a:srgbClr val="2D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2B"/>
                </a:solidFill>
              </a:defRPr>
            </a:pPr>
            <a:r>
              <a:t>Explore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30759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65"/>
                </a:solidFill>
              </a:defRPr>
            </a:pPr>
            <a:r>
              <a:t>Understand structure, categories and distributions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240280"/>
            <a:ext cx="438912" cy="438912"/>
          </a:xfrm>
          <a:prstGeom prst="ellipse">
            <a:avLst/>
          </a:prstGeom>
          <a:solidFill>
            <a:srgbClr val="2D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2199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2B"/>
                </a:solidFill>
              </a:defRPr>
            </a:pPr>
            <a: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22199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65"/>
                </a:solidFill>
              </a:defRPr>
            </a:pPr>
            <a:r>
              <a:t>Check missing values and duplicates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154680"/>
            <a:ext cx="438912" cy="438912"/>
          </a:xfrm>
          <a:prstGeom prst="ellipse">
            <a:avLst/>
          </a:prstGeom>
          <a:solidFill>
            <a:srgbClr val="2D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3639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2B"/>
                </a:solidFill>
              </a:defRPr>
            </a:pPr>
            <a: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13639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65"/>
                </a:solidFill>
              </a:defRPr>
            </a:pPr>
            <a:r>
              <a:t>Compare seasons, crops and irrigation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69080"/>
            <a:ext cx="438912" cy="438912"/>
          </a:xfrm>
          <a:prstGeom prst="ellipse">
            <a:avLst/>
          </a:prstGeom>
          <a:solidFill>
            <a:srgbClr val="2D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3308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5079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2B"/>
                </a:solidFill>
              </a:defRPr>
            </a:pPr>
            <a:r>
              <a:t>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05079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65"/>
                </a:solidFill>
              </a:defRPr>
            </a:pPr>
            <a:r>
              <a:t>Use comparative charts and KPI summaries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983480"/>
            <a:ext cx="438912" cy="438912"/>
          </a:xfrm>
          <a:prstGeom prst="ellipse">
            <a:avLst/>
          </a:prstGeom>
          <a:solidFill>
            <a:srgbClr val="2D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4748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6519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2B"/>
                </a:solidFill>
              </a:defRPr>
            </a:pPr>
            <a:r>
              <a:t>Interpret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96519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C65"/>
                </a:solidFill>
              </a:defRPr>
            </a:pPr>
            <a:r>
              <a:t>Translate patterns into evidence-based insights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4173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1417320"/>
            <a:ext cx="73152" cy="1143000"/>
          </a:xfrm>
          <a:prstGeom prst="rect">
            <a:avLst/>
          </a:prstGeom>
          <a:solidFill>
            <a:srgbClr val="2D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9168" y="1563624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C65"/>
                </a:solidFill>
              </a:defRPr>
            </a:pPr>
            <a:r>
              <a:t>DUPLICATES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185623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02B"/>
                </a:solidFill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217627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rows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4173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98280" y="1417320"/>
            <a:ext cx="73152" cy="1143000"/>
          </a:xfrm>
          <a:prstGeom prst="rect">
            <a:avLst/>
          </a:prstGeom>
          <a:solidFill>
            <a:srgbClr val="DD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1563624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C65"/>
                </a:solidFill>
              </a:defRPr>
            </a:pPr>
            <a:r>
              <a:t>MISSING CELLS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185623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02B"/>
                </a:solidFill>
              </a:defRPr>
            </a:pPr>
            <a:r>
              <a:t>120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17627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across 3 fields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2788920"/>
            <a:ext cx="4297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2788920"/>
            <a:ext cx="73152" cy="1143000"/>
          </a:xfrm>
          <a:prstGeom prst="rect">
            <a:avLst/>
          </a:prstGeom>
          <a:solidFill>
            <a:srgbClr val="89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2935224"/>
            <a:ext cx="3977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C65"/>
                </a:solidFill>
              </a:defRPr>
            </a:pPr>
            <a:r>
              <a:t>CATEGORICAL DIMENSIONS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3227832"/>
            <a:ext cx="3977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02B"/>
                </a:solidFill>
              </a:defRPr>
            </a:pPr>
            <a:r>
              <a:t>State • District • Crop • Season • Irrigation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4160520"/>
            <a:ext cx="4297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0" y="4160520"/>
            <a:ext cx="73152" cy="1143000"/>
          </a:xfrm>
          <a:prstGeom prst="rect">
            <a:avLst/>
          </a:prstGeom>
          <a:solidFill>
            <a:srgbClr val="2D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4306824"/>
            <a:ext cx="3977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C65"/>
                </a:solidFill>
              </a:defRPr>
            </a:pPr>
            <a:r>
              <a:t>PERFORMANCE DIMENSIONS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599431"/>
            <a:ext cx="3977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02B"/>
                </a:solidFill>
              </a:defRPr>
            </a:pPr>
            <a:r>
              <a:t>Yield • Production • Revenue • Cost • Profit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659282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VOIS AICTE Batch 1 • Major Project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7453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C6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2B"/>
                </a:solidFill>
                <a:latin typeface="Aptos Display"/>
              </a:defRPr>
            </a:pPr>
            <a:r>
              <a:t>Seasonal Performance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C65"/>
                </a:solidFill>
                <a:latin typeface="Aptos"/>
              </a:defRPr>
            </a:pPr>
            <a:r>
              <a:t>Average values across the 4,000 farm records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417320"/>
          <a:ext cx="53035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417320"/>
          <a:ext cx="530352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5833872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5833872"/>
            <a:ext cx="73152" cy="566928"/>
          </a:xfrm>
          <a:prstGeom prst="rect">
            <a:avLst/>
          </a:prstGeom>
          <a:solidFill>
            <a:srgbClr val="2D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980176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C65"/>
                </a:solidFill>
              </a:defRPr>
            </a:pPr>
            <a:r>
              <a:t>KHARIF YIELD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6272783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02B"/>
                </a:solidFill>
              </a:defRPr>
            </a:pPr>
            <a:r>
              <a:t>5.64 t/ha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601675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highest seasonal average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5833872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5833872"/>
            <a:ext cx="73152" cy="566928"/>
          </a:xfrm>
          <a:prstGeom prst="rect">
            <a:avLst/>
          </a:prstGeom>
          <a:solidFill>
            <a:srgbClr val="89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5980176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C65"/>
                </a:solidFill>
              </a:defRPr>
            </a:pPr>
            <a:r>
              <a:t>RABI YIELD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6272783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02B"/>
                </a:solidFill>
              </a:defRPr>
            </a:pPr>
            <a:r>
              <a:t>5.08 t/ha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601675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middle seasonal average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5833872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5833872"/>
            <a:ext cx="73152" cy="566928"/>
          </a:xfrm>
          <a:prstGeom prst="rect">
            <a:avLst/>
          </a:prstGeom>
          <a:solidFill>
            <a:srgbClr val="DD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5980176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C65"/>
                </a:solidFill>
              </a:defRPr>
            </a:pPr>
            <a:r>
              <a:t>ZAID YIELD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6272783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02B"/>
                </a:solidFill>
              </a:defRPr>
            </a:pPr>
            <a:r>
              <a:t>4.67 t/ha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601675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lowest seasonal average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59282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VOIS AICTE Batch 1 • Major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7453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C6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2B"/>
                </a:solidFill>
                <a:latin typeface="Aptos Display"/>
              </a:defRPr>
            </a:pPr>
            <a:r>
              <a:t>Seasonal Environment &amp; Resource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C65"/>
                </a:solidFill>
                <a:latin typeface="Aptos"/>
              </a:defRPr>
            </a:pPr>
            <a:r>
              <a:t>Environmental conditions and water efficiency vary substantially by season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325880"/>
          <a:ext cx="53035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325880"/>
          <a:ext cx="5303520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715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232A27"/>
                </a:solidFill>
                <a:latin typeface="Aptos"/>
              </a:defRPr>
            </a:pPr>
            <a:r>
              <a:t>• Kharif shows the highest average rainfall (≈852 mm) and highest water-efficiency metric (≈5.89 t/1000 m³).</a:t>
            </a:r>
          </a:p>
          <a:p>
            <a:pPr>
              <a:spcAft>
                <a:spcPts val="900"/>
              </a:spcAft>
              <a:defRPr sz="1100">
                <a:solidFill>
                  <a:srgbClr val="232A27"/>
                </a:solidFill>
                <a:latin typeface="Aptos"/>
              </a:defRPr>
            </a:pPr>
            <a:r>
              <a:t>• Zaid has the lowest rainfall (≈299 mm) and lowest water-efficiency metric (≈4.41 t/1000 m³).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9282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VOIS AICTE Batch 1 • Major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7453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C6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2B"/>
                </a:solidFill>
                <a:latin typeface="Aptos Display"/>
              </a:defRPr>
            </a:pPr>
            <a:r>
              <a:t>Crop &amp; Irrigation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C65"/>
                </a:solidFill>
                <a:latin typeface="Aptos"/>
              </a:defRPr>
            </a:pPr>
            <a:r>
              <a:t>Seasonal differences are visible across crops and irrigation methods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280160"/>
          <a:ext cx="649224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69480" y="1280160"/>
          <a:ext cx="438912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60920" y="3886200"/>
            <a:ext cx="4069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2B"/>
                </a:solidFill>
              </a:defRPr>
            </a:pPr>
            <a:r>
              <a:t>Observed patterns</a:t>
            </a:r>
          </a:p>
          <a:p>
            <a:pPr>
              <a:spcAft>
                <a:spcPts val="600"/>
              </a:spcAft>
              <a:defRPr sz="1050">
                <a:solidFill>
                  <a:srgbClr val="232A27"/>
                </a:solidFill>
              </a:defRPr>
            </a:pPr>
            <a:r>
              <a:t>• Drip: highest average yield (6.62 t/ha) in this dataset.</a:t>
            </a:r>
          </a:p>
          <a:p>
            <a:pPr>
              <a:spcAft>
                <a:spcPts val="600"/>
              </a:spcAft>
              <a:defRPr sz="1050">
                <a:solidFill>
                  <a:srgbClr val="232A27"/>
                </a:solidFill>
              </a:defRPr>
            </a:pPr>
            <a:r>
              <a:t>• Rainfed: highest water-efficiency metric (7.56 t/1000 m³).</a:t>
            </a:r>
          </a:p>
          <a:p>
            <a:pPr>
              <a:spcAft>
                <a:spcPts val="600"/>
              </a:spcAft>
              <a:defRPr sz="1050">
                <a:solidFill>
                  <a:srgbClr val="232A27"/>
                </a:solidFill>
              </a:defRPr>
            </a:pPr>
            <a:r>
              <a:t>• Sugarcane has much higher yield values than the other crops, so crop-level comparisons should consider crop 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9282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VOIS AICTE Batch 1 • Major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7453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C6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2B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C65"/>
                </a:solidFill>
                <a:latin typeface="Aptos"/>
              </a:defRPr>
            </a:pPr>
            <a:r>
              <a:t>Evidence-based observations from the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39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7A54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35607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302B"/>
                </a:solidFill>
              </a:defRPr>
            </a:pPr>
            <a:r>
              <a:t>Season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4343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32A27"/>
                </a:solidFill>
              </a:defRPr>
            </a:pPr>
            <a:r>
              <a:t>Average yield declines from Kharif (5.64) to Rabi (5.08) to Zaid (4.67) t/ha.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39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7A54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435607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302B"/>
                </a:solidFill>
              </a:defRPr>
            </a:pPr>
            <a:r>
              <a:t>Profit varies strongly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783080"/>
            <a:ext cx="4343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32A27"/>
                </a:solidFill>
              </a:defRPr>
            </a:pPr>
            <a:r>
              <a:t>Average profit is ≈₹178.9k in Kharif, ≈₹87.7k in Rabi and ≈−₹24.8k in Zaid.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986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3580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7A54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08376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302B"/>
                </a:solidFill>
              </a:defRPr>
            </a:pPr>
            <a:r>
              <a:t>Rainfall differs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55848"/>
            <a:ext cx="4343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32A27"/>
                </a:solidFill>
              </a:defRPr>
            </a:pPr>
            <a:r>
              <a:t>Average rainfall is ≈852 mm in Kharif, ≈436 mm in Rabi and ≈299 mm in Zaid.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9864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03580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7A54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008376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302B"/>
                </a:solidFill>
              </a:defRPr>
            </a:pPr>
            <a:r>
              <a:t>Water efficiency differs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355848"/>
            <a:ext cx="4343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32A27"/>
                </a:solidFill>
              </a:defRPr>
            </a:pPr>
            <a:r>
              <a:t>Average water-efficiency metric is 5.89, 5.19 and 4.41 t/1000 m³ for Kharif, Rabi and Zaid.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7141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0857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7A54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81144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302B"/>
                </a:solidFill>
              </a:defRPr>
            </a:pPr>
            <a:r>
              <a:t>Risk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28616"/>
            <a:ext cx="4343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32A27"/>
                </a:solidFill>
              </a:defRPr>
            </a:pPr>
            <a:r>
              <a:t>Average disease/pest risk is highest in Kharif (54.5%) and lower in Rabi/Zaid.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47141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60857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7A54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581144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302B"/>
                </a:solidFill>
              </a:defRPr>
            </a:pPr>
            <a:r>
              <a:t>Relationships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928616"/>
            <a:ext cx="4343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32A27"/>
                </a:solidFill>
              </a:defRPr>
            </a:pPr>
            <a:r>
              <a:t>Profit is positively associated with revenue (r≈0.89), production (r≈0.55) and yield (r≈0.49) in this dataset.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59282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VOIS AICTE Batch 1 • Major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7453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C6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2B"/>
                </a:solidFill>
                <a:latin typeface="Aptos Display"/>
              </a:defRPr>
            </a:pPr>
            <a:r>
              <a:t>Recommendations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C65"/>
                </a:solidFill>
                <a:latin typeface="Aptos"/>
              </a:defRPr>
            </a:pPr>
            <a:r>
              <a:t>Recommendations are framed as data-driven areas for further planning and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A27"/>
                </a:solidFill>
                <a:latin typeface="Aptos"/>
              </a:defRPr>
            </a:pPr>
            <a:r>
              <a:t>• Use seasonal performance dashboards to track yield, profit, rainfall, water use and risk.</a:t>
            </a:r>
          </a:p>
          <a:p>
            <a:pPr>
              <a:spcAft>
                <a:spcPts val="900"/>
              </a:spcAft>
              <a:defRPr sz="1400">
                <a:solidFill>
                  <a:srgbClr val="232A27"/>
                </a:solidFill>
                <a:latin typeface="Aptos"/>
              </a:defRPr>
            </a:pPr>
            <a:r>
              <a:t>• Investigate Zaid-season economics further because the dataset shows negative average profit.</a:t>
            </a:r>
          </a:p>
          <a:p>
            <a:pPr>
              <a:spcAft>
                <a:spcPts val="900"/>
              </a:spcAft>
              <a:defRPr sz="1400">
                <a:solidFill>
                  <a:srgbClr val="232A27"/>
                </a:solidFill>
                <a:latin typeface="Aptos"/>
              </a:defRPr>
            </a:pPr>
            <a:r>
              <a:t>• Evaluate irrigation choices alongside crop type, rainfall and water-efficiency measures rather than using a single metric.</a:t>
            </a:r>
          </a:p>
          <a:p>
            <a:pPr>
              <a:spcAft>
                <a:spcPts val="900"/>
              </a:spcAft>
              <a:defRPr sz="1400">
                <a:solidFill>
                  <a:srgbClr val="232A27"/>
                </a:solidFill>
                <a:latin typeface="Aptos"/>
              </a:defRPr>
            </a:pPr>
            <a:r>
              <a:t>• Give additional attention to Kharif disease/pest risk, which has the highest seasonal average in this dataset.</a:t>
            </a:r>
          </a:p>
          <a:p>
            <a:pPr>
              <a:spcAft>
                <a:spcPts val="900"/>
              </a:spcAft>
              <a:defRPr sz="1400">
                <a:solidFill>
                  <a:srgbClr val="232A27"/>
                </a:solidFill>
                <a:latin typeface="Aptos"/>
              </a:defRPr>
            </a:pPr>
            <a:r>
              <a:t>• Extend the analysis with region-wise and crop-wise comparisons before making operational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325880"/>
            <a:ext cx="4800600" cy="4297680"/>
          </a:xfrm>
          <a:prstGeom prst="roundRect">
            <a:avLst/>
          </a:prstGeom>
          <a:solidFill>
            <a:srgbClr val="14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737360"/>
            <a:ext cx="4069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89BE5C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514600"/>
            <a:ext cx="397763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The analysis shows clear seasonal variation in agricultural performance, environmental conditions, resource efficiency and economic outcomes.</a:t>
            </a:r>
          </a:p>
          <a:p>
            <a:pPr>
              <a:defRPr sz="1400">
                <a:solidFill>
                  <a:srgbClr val="DCE6E0"/>
                </a:solidFill>
              </a:defRPr>
            </a:pPr>
            <a:r>
              <a:t>Season-wise analytics can therefore support more evidence-based agricultural planning and help identify areas requiring deeper investigation.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4800600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9BE5C"/>
                </a:solidFill>
              </a:defRPr>
            </a:pPr>
            <a:r>
              <a:t>Analysis basis: 4,000 records • 28 variables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9282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C65"/>
                </a:solidFill>
              </a:defRPr>
            </a:pPr>
            <a:r>
              <a:t>VOIS AICTE Batch 1 • Major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7453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C65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601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9BE5C"/>
                </a:solidFill>
              </a:defRPr>
            </a:pPr>
            <a:r>
              <a:t>Seasonal Agriculture Performance Analysis</a:t>
            </a:r>
          </a:p>
          <a:p>
            <a:pPr>
              <a:defRPr sz="1200">
                <a:solidFill>
                  <a:srgbClr val="D2DCD7"/>
                </a:solidFill>
              </a:defRPr>
            </a:pPr>
            <a:r>
              <a:t>A PRAJAN KUMAR  •  AICTE Student ID: STU6955398a5d9201767192970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937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DC2"/>
                </a:solidFill>
              </a:defRPr>
            </a:pPr>
            <a:r>
              <a:t>VOIS AICTE Batch 1 •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